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ADCD03-E26A-467C-B7B9-F87E2E32F725}">
  <a:tblStyle styleId="{36ADCD03-E26A-467C-B7B9-F87E2E32F72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f4147108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f414710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af4147108e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62e2f046d_1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62e2f046d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a62e2f046d_1_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List what are all the problems/gaps in your problem area</a:t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List down the objectives of your project as bulleted points. Max 3.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This includes the whole work of Phase I and Phase II</a:t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03078dadb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03078da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b03078dadb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03078dadb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03078dad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b03078dadb_0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60aaea3d5_1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60aaea3d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a60aaea3d5_1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60aaea3d5_1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60aaea3d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a60aaea3d5_1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60aaea3d5_1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60aaea3d5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a60aaea3d5_1_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Give the below details of the data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IN"/>
              <a:t>Source of Data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IN"/>
              <a:t>Description – number of rows, column names </a:t>
            </a:r>
            <a:endParaRPr/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With a flow chart/work flow diagram, explain the modules of Phase I and Phase II</a:t>
            </a:r>
            <a:endParaRPr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Phase I Workflow or Objectives addressed in Phase I</a:t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Language Used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Package Used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Algorithms Used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Detail the contributions done in Phase I</a:t>
            </a:r>
            <a:endParaRPr/>
          </a:p>
        </p:txBody>
      </p:sp>
      <p:sp>
        <p:nvSpPr>
          <p:cNvPr id="192" name="Google Shape;192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Screen shot of acknowledgement proof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Conference/Journal details</a:t>
            </a:r>
            <a:endParaRPr/>
          </a:p>
        </p:txBody>
      </p:sp>
      <p:sp>
        <p:nvSpPr>
          <p:cNvPr id="199" name="Google Shape;199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Result Tables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Result Graphs</a:t>
            </a:r>
            <a:endParaRPr/>
          </a:p>
        </p:txBody>
      </p:sp>
      <p:sp>
        <p:nvSpPr>
          <p:cNvPr id="206" name="Google Shape;206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Bulleted points for Phase II Plan</a:t>
            </a:r>
            <a:endParaRPr/>
          </a:p>
        </p:txBody>
      </p:sp>
      <p:sp>
        <p:nvSpPr>
          <p:cNvPr id="213" name="Google Shape;213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List the references In IEEE format. Minimum 5, Max 10.</a:t>
            </a:r>
            <a:endParaRPr/>
          </a:p>
        </p:txBody>
      </p:sp>
      <p:sp>
        <p:nvSpPr>
          <p:cNvPr id="220" name="Google Shape;220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descr="pngfind.com-kingpin-png-4152286 (1).png"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11914" y="92267"/>
            <a:ext cx="1638301" cy="7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pngfind.com-kingpin-png-4152286 (1).png" id="25" name="Google Shape;2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78968" y="28424"/>
            <a:ext cx="1565031" cy="569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3" name="Google Shape;43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type="ctrTitle"/>
          </p:nvPr>
        </p:nvSpPr>
        <p:spPr>
          <a:xfrm>
            <a:off x="685800" y="1164925"/>
            <a:ext cx="7772400" cy="2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Federated Continual Self-Supervised Vision via Prototype-Anchored Distillation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(SDG - 9)</a:t>
            </a:r>
            <a:endParaRPr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1800800" y="4515650"/>
            <a:ext cx="6400800" cy="1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IN"/>
              <a:t>Student Name: Sathish Kumar R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IN"/>
              <a:t>Guide Name: Dr. Meenakshi K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Abstract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en-IN"/>
              <a:t>A </a:t>
            </a:r>
            <a:r>
              <a:rPr lang="en-IN"/>
              <a:t>privacy-preserving framework enabling continuous self-supervised learning on edge devices. It consolidates evolving knowledge across heterogeneous domains, effectively preserving past representations while reducing communication overhead.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Problem Statement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en-IN"/>
              <a:t>Current AI </a:t>
            </a:r>
            <a:r>
              <a:rPr lang="en-IN"/>
              <a:t>systems</a:t>
            </a:r>
            <a:r>
              <a:rPr lang="en-IN"/>
              <a:t> fail to adapt in real-world scenarios because they rely on static, centralized training that cannot process unlabeled, private data streams without suffering from catastrophic forgetting.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214282" y="28572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Existing Problems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Catastrophic forgetting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Data heterogeneity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Privacy constraints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Limited label availability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Inefficient adaptation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Objectives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Develop a framework that enables scalable and privacy-preserving learning.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Achieve robust learning across evolving data distributions.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Ensure efficient long-term knowledge retention while minimizing </a:t>
            </a:r>
            <a:r>
              <a:rPr lang="en-IN"/>
              <a:t>catastrophic</a:t>
            </a:r>
            <a:r>
              <a:rPr lang="en-IN"/>
              <a:t> forgetting.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Literature Review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4" name="Google Shape;124;p18"/>
          <p:cNvGraphicFramePr/>
          <p:nvPr/>
        </p:nvGraphicFramePr>
        <p:xfrm>
          <a:off x="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{36ADCD03-E26A-467C-B7B9-F87E2E32F725}</a:tableStyleId>
              </a:tblPr>
              <a:tblGrid>
                <a:gridCol w="1607950"/>
                <a:gridCol w="1033975"/>
                <a:gridCol w="1018725"/>
                <a:gridCol w="1285900"/>
                <a:gridCol w="2031325"/>
                <a:gridCol w="2390700"/>
              </a:tblGrid>
              <a:tr h="268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Paper Name</a:t>
                      </a:r>
                      <a:endParaRPr b="1"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Journal</a:t>
                      </a:r>
                      <a:endParaRPr b="1"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Year</a:t>
                      </a:r>
                      <a:endParaRPr b="1"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Datasets Used</a:t>
                      </a:r>
                      <a:endParaRPr b="1"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Main Contributions</a:t>
                      </a:r>
                      <a:endParaRPr b="1"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Other Observations</a:t>
                      </a:r>
                      <a:endParaRPr b="1" sz="1200"/>
                    </a:p>
                  </a:txBody>
                  <a:tcPr marT="19050" marB="19050" marR="91425" marL="9142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7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Global Prototype Distillation for Heterogeneous Federated Learning</a:t>
                      </a:r>
                      <a:endParaRPr b="1"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Scientific Reports (Nature Portfolio)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2024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CIFAR-10, CIFAR-100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Proposes a global prototype distillation mechanism to handle model and data heterogeneity in federated learning, focusing on knowledge transfer via prototypes rather than parameter aggregation.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Emphasizes communication-efficient learning and robustness to heterogeneous client models. Exact experimental setup and datasets are not inferable from citation alone.</a:t>
                      </a:r>
                      <a:endParaRPr sz="1200"/>
                    </a:p>
                  </a:txBody>
                  <a:tcPr marT="19050" marB="19050" marR="91425" marL="9142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9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FedPAD: Aggregation-Free Federated Learning with Prototype-based Adaptive Distillation</a:t>
                      </a:r>
                      <a:endParaRPr b="1"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Knowledge-Based Systems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2025 (online first)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Not specified 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Introduces FedPAD, an aggregation-free federated learning framework that relies on prototype-based adaptive distillation instead of weight averaging.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Notable for avoiding standard federated aggregation; suggests improved scalability and stability under heterogeneity. Dataset details are not available from citation alone.</a:t>
                      </a:r>
                      <a:endParaRPr sz="1200"/>
                    </a:p>
                  </a:txBody>
                  <a:tcPr marT="19050" marB="19050" marR="91425" marL="9142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5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Prototype Similarity for Federated Unsupervised Learning</a:t>
                      </a:r>
                      <a:endParaRPr b="1"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IEEE Transactions on Neural Networks and Learning Systems (TNNLS)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2024/2025 (Early Access)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Not specified 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Proposes a prototype similarity–based learning objective for federated unsupervised/self-supervised learning settings.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Focuses on representation alignment across clients without labels. Specific datasets and training protocols are not stated in citation.</a:t>
                      </a:r>
                      <a:endParaRPr sz="1200"/>
                    </a:p>
                  </a:txBody>
                  <a:tcPr marT="19050" marB="19050" marR="91425" marL="9142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Literature Review</a:t>
            </a:r>
            <a:endParaRPr/>
          </a:p>
        </p:txBody>
      </p:sp>
      <p:graphicFrame>
        <p:nvGraphicFramePr>
          <p:cNvPr id="131" name="Google Shape;131;p19"/>
          <p:cNvGraphicFramePr/>
          <p:nvPr/>
        </p:nvGraphicFramePr>
        <p:xfrm>
          <a:off x="-4762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{36ADCD03-E26A-467C-B7B9-F87E2E32F725}</a:tableStyleId>
              </a:tblPr>
              <a:tblGrid>
                <a:gridCol w="1724025"/>
                <a:gridCol w="1107775"/>
                <a:gridCol w="759375"/>
                <a:gridCol w="1604650"/>
                <a:gridCol w="1892725"/>
                <a:gridCol w="2064975"/>
              </a:tblGrid>
              <a:tr h="352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Paper Name</a:t>
                      </a:r>
                      <a:endParaRPr b="1"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Journal</a:t>
                      </a:r>
                      <a:endParaRPr b="1"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Year</a:t>
                      </a:r>
                      <a:endParaRPr b="1"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Datasets Used</a:t>
                      </a:r>
                      <a:endParaRPr b="1"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Main Contributions</a:t>
                      </a:r>
                      <a:endParaRPr b="1"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Other Observations</a:t>
                      </a:r>
                      <a:endParaRPr b="1" sz="1200"/>
                    </a:p>
                  </a:txBody>
                  <a:tcPr marT="19050" marB="19050" marR="91425" marL="9142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1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Parameterized Data-Free Knowledge Distillation for Heterogeneous Federated Learning</a:t>
                      </a:r>
                      <a:endParaRPr b="1"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Knowledge-Based Systems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2025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Image Net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Presents a parameterized, data-free knowledge distillation method for heterogeneous federated learning, addressing privacy constraints and catastrophic forgetting.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Data-free setting implies no access to raw client data. Exact benchmarks and datasets are not specified in the citation.</a:t>
                      </a:r>
                      <a:endParaRPr sz="1200"/>
                    </a:p>
                  </a:txBody>
                  <a:tcPr marT="19050" marB="19050" marR="91425" marL="9142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7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/>
                        <a:t>Mitigating Catastrophic Forgetting in Continual Learning Using Gradient-based Methods: A Review</a:t>
                      </a:r>
                      <a:endParaRPr b="1"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International Journal of Advanced Computer Science and Applications (IJACSA)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2025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Not applicable (Survey paper)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Provides a comprehensive review of gradient-based methods for mitigating catastrophic forgetting in continual learning.</a:t>
                      </a:r>
                      <a:endParaRPr sz="1200"/>
                    </a:p>
                  </a:txBody>
                  <a:tcPr marT="19050" marB="19050" marR="28575" marL="2857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/>
                        <a:t>Survey/review paper; synthesizes prior work rather than introducing new datasets or models.</a:t>
                      </a:r>
                      <a:endParaRPr sz="1200"/>
                    </a:p>
                  </a:txBody>
                  <a:tcPr marT="19050" marB="19050" marR="91425" marL="91425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Proposed Architecture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00200"/>
            <a:ext cx="9144000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Proposed Module</a:t>
            </a:r>
            <a:endParaRPr/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Information-Bottlenecked Adapter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Projective Feature Orthogonalizer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Distributed Prototype Memory Bank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Prototype-Oriented Distillation Engine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Timeline</a:t>
            </a:r>
            <a:endParaRPr/>
          </a:p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Dec: Build IBA-Local Adapters &amp; DPM-Bank 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Jan: Implement PFO-Reg &amp; POD-Consolidator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Feb: Validation and Ablation Studies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/>
              <a:t>Mar: Finalize Report &amp; Submission</a:t>
            </a:r>
            <a:endParaRPr/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00200"/>
            <a:ext cx="9296399" cy="501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52725"/>
            <a:ext cx="9205774" cy="520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457200" y="714356"/>
            <a:ext cx="8229600" cy="541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r>
              <a:t/>
            </a:r>
            <a:endParaRPr sz="8800"/>
          </a:p>
          <a:p>
            <a:pPr indent="-342900" lvl="0" marL="342900" rtl="0" algn="ctr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r>
              <a:rPr lang="en-IN" sz="8800"/>
              <a:t>Thank </a:t>
            </a:r>
            <a:r>
              <a:rPr lang="en-IN" sz="8800"/>
              <a:t>You</a:t>
            </a:r>
            <a:endParaRPr sz="8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DataSet Description</a:t>
            </a:r>
            <a:endParaRPr/>
          </a:p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0" y="214290"/>
            <a:ext cx="750095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Proposed Methodology</a:t>
            </a:r>
            <a:endParaRPr/>
          </a:p>
        </p:txBody>
      </p:sp>
      <p:sp>
        <p:nvSpPr>
          <p:cNvPr id="174" name="Google Shape;174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Algorithm Used</a:t>
            </a:r>
            <a:endParaRPr/>
          </a:p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Implementation Details</a:t>
            </a:r>
            <a:endParaRPr/>
          </a:p>
        </p:txBody>
      </p:sp>
      <p:sp>
        <p:nvSpPr>
          <p:cNvPr id="188" name="Google Shape;188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title"/>
          </p:nvPr>
        </p:nvSpPr>
        <p:spPr>
          <a:xfrm>
            <a:off x="457200" y="274638"/>
            <a:ext cx="690088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Results and Discussion</a:t>
            </a:r>
            <a:endParaRPr/>
          </a:p>
        </p:txBody>
      </p:sp>
      <p:sp>
        <p:nvSpPr>
          <p:cNvPr id="195" name="Google Shape;195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title"/>
          </p:nvPr>
        </p:nvSpPr>
        <p:spPr>
          <a:xfrm>
            <a:off x="457200" y="274638"/>
            <a:ext cx="732951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Paper Submission Details</a:t>
            </a:r>
            <a:endParaRPr/>
          </a:p>
        </p:txBody>
      </p:sp>
      <p:sp>
        <p:nvSpPr>
          <p:cNvPr id="202" name="Google Shape;202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Conclusion</a:t>
            </a:r>
            <a:endParaRPr/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Future Work</a:t>
            </a:r>
            <a:endParaRPr/>
          </a:p>
        </p:txBody>
      </p:sp>
      <p:sp>
        <p:nvSpPr>
          <p:cNvPr id="216" name="Google Shape;216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References</a:t>
            </a:r>
            <a:endParaRPr/>
          </a:p>
        </p:txBody>
      </p:sp>
      <p:sp>
        <p:nvSpPr>
          <p:cNvPr id="223" name="Google Shape;223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